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6" r:id="rId4"/>
    <p:sldId id="258" r:id="rId5"/>
    <p:sldId id="259" r:id="rId6"/>
    <p:sldId id="260" r:id="rId7"/>
    <p:sldId id="268" r:id="rId8"/>
    <p:sldId id="261" r:id="rId9"/>
    <p:sldId id="269" r:id="rId10"/>
    <p:sldId id="275" r:id="rId11"/>
    <p:sldId id="276" r:id="rId12"/>
    <p:sldId id="270" r:id="rId13"/>
    <p:sldId id="271" r:id="rId14"/>
    <p:sldId id="272" r:id="rId15"/>
    <p:sldId id="274" r:id="rId16"/>
    <p:sldId id="273" r:id="rId17"/>
    <p:sldId id="277" r:id="rId18"/>
    <p:sldId id="278" r:id="rId19"/>
    <p:sldId id="279" r:id="rId20"/>
    <p:sldId id="265" r:id="rId21"/>
  </p:sldIdLst>
  <p:sldSz cx="9144000" cy="5143500" type="screen16x9"/>
  <p:notesSz cx="5143500" cy="9144000"/>
  <p:embeddedFontLst>
    <p:embeddedFont>
      <p:font typeface="Bookman Old Style" panose="02050604050505020204" pitchFamily="18" charset="0"/>
      <p:regular r:id="rId23"/>
      <p:bold r:id="rId24"/>
      <p:italic r:id="rId25"/>
      <p:boldItalic r:id="rId26"/>
    </p:embeddedFont>
    <p:embeddedFont>
      <p:font typeface="Brygada 1918 SemiBold" panose="020B0604020202020204" charset="0"/>
      <p:regular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8906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1C06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EBD4"/>
          </a:solidFill>
          <a:ln/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7.18476?utm_source=chatgpt.com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501.15134?utm_source=chatgpt.com" TargetMode="External"/><Relationship Id="rId5" Type="http://schemas.openxmlformats.org/officeDocument/2006/relationships/hyperlink" Target="https://doi.org/10.1007/s10664-026-10858-8?utm_source=chatgpt.com" TargetMode="External"/><Relationship Id="rId4" Type="http://schemas.openxmlformats.org/officeDocument/2006/relationships/hyperlink" Target="https://arxiv.org/abs/2507.19115?utm_source=chatgpt.co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07/s10664-023-10301-2?utm_source=chatgpt.com" TargetMode="External"/><Relationship Id="rId2" Type="http://schemas.openxmlformats.org/officeDocument/2006/relationships/hyperlink" Target="https://doi.org/10.1007/s10664-022-10164-z?utm_source=chatgpt.co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07/s11219-026-09740-z?utm_source=chatgpt.com" TargetMode="External"/><Relationship Id="rId4" Type="http://schemas.openxmlformats.org/officeDocument/2006/relationships/hyperlink" Target="https://link.springer.com/article/10.1007/s11219-023-09655-z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1">
            <a:extLst>
              <a:ext uri="{FF2B5EF4-FFF2-40B4-BE49-F238E27FC236}">
                <a16:creationId xmlns:a16="http://schemas.microsoft.com/office/drawing/2014/main" id="{DC6A5FB7-22B4-A2D8-3514-6B46B4CF795E}"/>
              </a:ext>
            </a:extLst>
          </p:cNvPr>
          <p:cNvSpPr txBox="1">
            <a:spLocks/>
          </p:cNvSpPr>
          <p:nvPr/>
        </p:nvSpPr>
        <p:spPr>
          <a:xfrm>
            <a:off x="1355693" y="516796"/>
            <a:ext cx="6749796" cy="51842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anose="02050604050505020204" pitchFamily="18" charset="0"/>
              </a:rPr>
              <a:t>ACE </a:t>
            </a:r>
            <a:r>
              <a:rPr lang="en-US" sz="4000" b="1" kern="10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Engineering College</a:t>
            </a:r>
          </a:p>
          <a:p>
            <a:r>
              <a:rPr lang="en-US" sz="1600" kern="100" dirty="0" err="1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Ankushapur</a:t>
            </a:r>
            <a:r>
              <a:rPr lang="en-US" sz="1600" kern="10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(v), </a:t>
            </a:r>
            <a:r>
              <a:rPr lang="en-US" sz="1600" kern="100" dirty="0" err="1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Ghatkesar</a:t>
            </a:r>
            <a:r>
              <a:rPr lang="en-US" sz="1600" kern="10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(M), </a:t>
            </a:r>
            <a:r>
              <a:rPr lang="en-US" sz="1600" kern="100" dirty="0" err="1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Medchal</a:t>
            </a:r>
            <a:r>
              <a:rPr lang="en-US" sz="1600" kern="10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Dist-501301</a:t>
            </a:r>
            <a:br>
              <a:rPr lang="en-IN" sz="4000" b="1" kern="100" dirty="0">
                <a:ln w="0"/>
                <a:solidFill>
                  <a:schemeClr val="tx1">
                    <a:lumMod val="95000"/>
                    <a:lumOff val="5000"/>
                  </a:schemeClr>
                </a:solidFill>
                <a:effectLst>
                  <a:reflection blurRad="6350" stA="53000" endA="300" endPos="35500" dir="5400000" sy="-90000" algn="bl" rotWithShape="0"/>
                </a:effectLst>
                <a:latin typeface="Bookman Old Style" panose="020506040505050202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en-IN" sz="4000" b="1" dirty="0">
              <a:ln w="0"/>
              <a:solidFill>
                <a:schemeClr val="tx1">
                  <a:lumMod val="95000"/>
                  <a:lumOff val="5000"/>
                </a:schemeClr>
              </a:solidFill>
              <a:effectLst>
                <a:reflection blurRad="6350" stA="53000" endA="300" endPos="35500" dir="5400000" sy="-90000" algn="bl" rotWithShape="0"/>
              </a:effectLst>
              <a:latin typeface="Bookman Old Style" panose="02050604050505020204" pitchFamily="18" charset="0"/>
            </a:endParaRPr>
          </a:p>
        </p:txBody>
      </p:sp>
      <p:sp>
        <p:nvSpPr>
          <p:cNvPr id="26" name="Subtitle 2">
            <a:extLst>
              <a:ext uri="{FF2B5EF4-FFF2-40B4-BE49-F238E27FC236}">
                <a16:creationId xmlns:a16="http://schemas.microsoft.com/office/drawing/2014/main" id="{6715E354-C016-5865-551F-E42FF126C13A}"/>
              </a:ext>
            </a:extLst>
          </p:cNvPr>
          <p:cNvSpPr txBox="1">
            <a:spLocks/>
          </p:cNvSpPr>
          <p:nvPr/>
        </p:nvSpPr>
        <p:spPr>
          <a:xfrm>
            <a:off x="1702584" y="1920720"/>
            <a:ext cx="5915071" cy="518427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IN" sz="2400" b="1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AUTONOMOUS CODE REVIEW AGENT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E18060-C86B-7515-DAFC-8EED2D69811B}"/>
              </a:ext>
            </a:extLst>
          </p:cNvPr>
          <p:cNvSpPr txBox="1"/>
          <p:nvPr/>
        </p:nvSpPr>
        <p:spPr>
          <a:xfrm>
            <a:off x="5021856" y="2963566"/>
            <a:ext cx="4083927" cy="16106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just">
              <a:spcAft>
                <a:spcPts val="800"/>
              </a:spcAft>
            </a:pPr>
            <a:r>
              <a:rPr lang="en-IN" sz="16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marL="342900" indent="-342900" algn="just">
              <a:spcAft>
                <a:spcPts val="800"/>
              </a:spcAft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Pamulaparthi Sai Nithin (23AG1A67B2)</a:t>
            </a:r>
          </a:p>
          <a:p>
            <a:pPr marL="342900" indent="-342900" algn="just">
              <a:spcAft>
                <a:spcPts val="800"/>
              </a:spcAft>
              <a:buAutoNum type="arabicPeriod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Yellanki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Srinidhi             (23AG1A67C8) </a:t>
            </a:r>
          </a:p>
          <a:p>
            <a:pPr marL="342900" indent="-342900" algn="just">
              <a:spcAft>
                <a:spcPts val="800"/>
              </a:spcAft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Sri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Ramoju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Manideep     (23AG1A67C1) </a:t>
            </a:r>
          </a:p>
          <a:p>
            <a:pPr marL="342900" indent="-342900" algn="just">
              <a:spcAft>
                <a:spcPts val="800"/>
              </a:spcAft>
              <a:buAutoNum type="arabicPeriod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Putta Shiva Prasad           (23AG1A67B7)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39C773A3-A258-ED02-AD6A-A8969583A3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334" y="470534"/>
            <a:ext cx="956359" cy="956359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AE8F0065-F30C-9385-4844-ECA6AF90DD22}"/>
              </a:ext>
            </a:extLst>
          </p:cNvPr>
          <p:cNvSpPr txBox="1"/>
          <p:nvPr/>
        </p:nvSpPr>
        <p:spPr>
          <a:xfrm>
            <a:off x="877513" y="3716835"/>
            <a:ext cx="18758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Internal Guide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RALLA SURESH 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0646" y="-17292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403011"/>
                </a:solidFill>
                <a:latin typeface="Times New Roman" panose="02020603050405020304" pitchFamily="18" charset="0"/>
                <a:ea typeface="Brygada 1918 SemiBold" pitchFamily="34" charset="-122"/>
                <a:cs typeface="Times New Roman" panose="02020603050405020304" pitchFamily="18" charset="0"/>
              </a:rPr>
              <a:t>Contents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29511" y="433019"/>
            <a:ext cx="4066472" cy="327474"/>
          </a:xfrm>
          <a:prstGeom prst="roundRect">
            <a:avLst>
              <a:gd name="adj" fmla="val 28895"/>
            </a:avLst>
          </a:prstGeom>
          <a:solidFill>
            <a:srgbClr val="626C3B"/>
          </a:solidFill>
          <a:ln w="4763">
            <a:solidFill>
              <a:srgbClr val="7B8554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4" name="Text 2"/>
          <p:cNvSpPr/>
          <p:nvPr/>
        </p:nvSpPr>
        <p:spPr>
          <a:xfrm>
            <a:off x="489483" y="488175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Brygada 1918 SemiBold" pitchFamily="34" charset="-122"/>
                <a:cs typeface="Times New Roman" panose="02020603050405020304" pitchFamily="18" charset="0"/>
              </a:rPr>
              <a:t>1. Problem Statement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29511" y="878556"/>
            <a:ext cx="4066472" cy="315467"/>
          </a:xfrm>
          <a:prstGeom prst="roundRect">
            <a:avLst>
              <a:gd name="adj" fmla="val 28895"/>
            </a:avLst>
          </a:prstGeom>
          <a:solidFill>
            <a:srgbClr val="83792E"/>
          </a:solidFill>
          <a:ln w="4763">
            <a:solidFill>
              <a:srgbClr val="9C9247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6" name="Text 4"/>
          <p:cNvSpPr/>
          <p:nvPr/>
        </p:nvSpPr>
        <p:spPr>
          <a:xfrm>
            <a:off x="496044" y="939739"/>
            <a:ext cx="23296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Brygada 1918 SemiBold" pitchFamily="34" charset="-122"/>
                <a:cs typeface="Times New Roman" panose="02020603050405020304" pitchFamily="18" charset="0"/>
              </a:rPr>
              <a:t>2. Abstract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45548" y="1288668"/>
            <a:ext cx="4050435" cy="323907"/>
          </a:xfrm>
          <a:prstGeom prst="roundRect">
            <a:avLst>
              <a:gd name="adj" fmla="val 28895"/>
            </a:avLst>
          </a:prstGeom>
          <a:solidFill>
            <a:srgbClr val="E8AF3B"/>
          </a:solidFill>
          <a:ln w="4763">
            <a:solidFill>
              <a:srgbClr val="CE9521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8" name="Text 6"/>
          <p:cNvSpPr/>
          <p:nvPr/>
        </p:nvSpPr>
        <p:spPr>
          <a:xfrm>
            <a:off x="496044" y="1328334"/>
            <a:ext cx="2336242" cy="250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Brygada 1918 SemiBold" pitchFamily="34" charset="-122"/>
                <a:cs typeface="Times New Roman" panose="02020603050405020304" pitchFamily="18" charset="0"/>
              </a:rPr>
              <a:t>3. Objectives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50442" y="1714423"/>
            <a:ext cx="4045541" cy="338554"/>
          </a:xfrm>
          <a:prstGeom prst="roundRect">
            <a:avLst>
              <a:gd name="adj" fmla="val 28895"/>
            </a:avLst>
          </a:prstGeom>
          <a:solidFill>
            <a:srgbClr val="CC914D"/>
          </a:solidFill>
          <a:ln w="4763">
            <a:solidFill>
              <a:srgbClr val="B27733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13" name="Shape 11"/>
          <p:cNvSpPr/>
          <p:nvPr/>
        </p:nvSpPr>
        <p:spPr>
          <a:xfrm>
            <a:off x="350442" y="3028605"/>
            <a:ext cx="4086769" cy="307334"/>
          </a:xfrm>
          <a:prstGeom prst="roundRect">
            <a:avLst>
              <a:gd name="adj" fmla="val 28895"/>
            </a:avLst>
          </a:prstGeom>
          <a:solidFill>
            <a:srgbClr val="83792E"/>
          </a:solidFill>
          <a:ln w="4763">
            <a:solidFill>
              <a:srgbClr val="9C9247"/>
            </a:solidFill>
            <a:prstDash val="solid"/>
          </a:ln>
        </p:spPr>
        <p:txBody>
          <a:bodyPr/>
          <a:lstStyle/>
          <a:p>
            <a:endParaRPr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35890" y="2185173"/>
            <a:ext cx="4094808" cy="323907"/>
          </a:xfrm>
          <a:prstGeom prst="roundRect">
            <a:avLst>
              <a:gd name="adj" fmla="val 41332"/>
            </a:avLst>
          </a:prstGeom>
          <a:solidFill>
            <a:srgbClr val="83792E"/>
          </a:solidFill>
          <a:ln w="4763">
            <a:solidFill>
              <a:srgbClr val="9C9247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22" name="Text 20"/>
          <p:cNvSpPr/>
          <p:nvPr/>
        </p:nvSpPr>
        <p:spPr>
          <a:xfrm>
            <a:off x="480832" y="3090255"/>
            <a:ext cx="1896579" cy="3073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Brygada 1918 SemiBold" pitchFamily="34" charset="-122"/>
                <a:cs typeface="Times New Roman" panose="02020603050405020304" pitchFamily="18" charset="0"/>
              </a:rPr>
              <a:t>7. System Architecture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ea typeface="Brygada 1918 SemiBold" pitchFamily="34" charset="-122"/>
                <a:cs typeface="Times New Roman" panose="02020603050405020304" pitchFamily="18" charset="0"/>
              </a:rPr>
              <a:t> 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22BB30-E2EF-C414-1845-9618FA434EB8}"/>
              </a:ext>
            </a:extLst>
          </p:cNvPr>
          <p:cNvSpPr txBox="1"/>
          <p:nvPr/>
        </p:nvSpPr>
        <p:spPr>
          <a:xfrm>
            <a:off x="399823" y="1734354"/>
            <a:ext cx="16241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Brygada 1918 SemiBold" pitchFamily="34" charset="-122"/>
                <a:cs typeface="Times New Roman" panose="02020603050405020304" pitchFamily="18" charset="0"/>
              </a:rPr>
              <a:t>4. Literature Survey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15">
            <a:extLst>
              <a:ext uri="{FF2B5EF4-FFF2-40B4-BE49-F238E27FC236}">
                <a16:creationId xmlns:a16="http://schemas.microsoft.com/office/drawing/2014/main" id="{DDAD6930-23F0-2B8B-C136-C3A05AC2C953}"/>
              </a:ext>
            </a:extLst>
          </p:cNvPr>
          <p:cNvSpPr/>
          <p:nvPr/>
        </p:nvSpPr>
        <p:spPr>
          <a:xfrm>
            <a:off x="345548" y="2620718"/>
            <a:ext cx="4095166" cy="307778"/>
          </a:xfrm>
          <a:prstGeom prst="roundRect">
            <a:avLst>
              <a:gd name="adj" fmla="val 41332"/>
            </a:avLst>
          </a:prstGeom>
          <a:solidFill>
            <a:srgbClr val="CC914D"/>
          </a:solidFill>
          <a:ln w="4763">
            <a:solidFill>
              <a:srgbClr val="B27733"/>
            </a:solidFill>
            <a:prstDash val="solid"/>
          </a:ln>
        </p:spPr>
        <p:txBody>
          <a:bodyPr/>
          <a:lstStyle/>
          <a:p>
            <a:endParaRPr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CB68CAB-2F23-407D-7940-17E6F3E74BBB}"/>
              </a:ext>
            </a:extLst>
          </p:cNvPr>
          <p:cNvSpPr txBox="1"/>
          <p:nvPr/>
        </p:nvSpPr>
        <p:spPr>
          <a:xfrm>
            <a:off x="399823" y="2182959"/>
            <a:ext cx="13324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Methodology</a:t>
            </a: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2ECFF3B0-6C39-D112-575D-0C34003D8271}"/>
              </a:ext>
            </a:extLst>
          </p:cNvPr>
          <p:cNvSpPr/>
          <p:nvPr/>
        </p:nvSpPr>
        <p:spPr>
          <a:xfrm>
            <a:off x="370646" y="3445431"/>
            <a:ext cx="4060052" cy="307334"/>
          </a:xfrm>
          <a:prstGeom prst="roundRect">
            <a:avLst>
              <a:gd name="adj" fmla="val 28895"/>
            </a:avLst>
          </a:prstGeom>
          <a:solidFill>
            <a:srgbClr val="E8AF3B"/>
          </a:solidFill>
          <a:ln w="4763">
            <a:solidFill>
              <a:srgbClr val="CE9521"/>
            </a:solidFill>
            <a:prstDash val="solid"/>
          </a:ln>
        </p:spPr>
        <p:txBody>
          <a:bodyPr/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Brygada 1918 SemiBold" pitchFamily="34" charset="-122"/>
                <a:cs typeface="Times New Roman" panose="02020603050405020304" pitchFamily="18" charset="0"/>
              </a:rPr>
              <a:t>.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Advantages</a:t>
            </a:r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ea typeface="Brygada 1918 SemiBold" pitchFamily="34" charset="-122"/>
                <a:cs typeface="Times New Roman" panose="02020603050405020304" pitchFamily="18" charset="0"/>
              </a:rPr>
              <a:t> 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D08B07C-4A10-BEB8-2906-11FE1DF7B3A5}"/>
              </a:ext>
            </a:extLst>
          </p:cNvPr>
          <p:cNvSpPr txBox="1"/>
          <p:nvPr/>
        </p:nvSpPr>
        <p:spPr>
          <a:xfrm>
            <a:off x="371459" y="2634420"/>
            <a:ext cx="29931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Hardware &amp; Software Requirements</a:t>
            </a:r>
          </a:p>
        </p:txBody>
      </p:sp>
      <p:sp>
        <p:nvSpPr>
          <p:cNvPr id="14" name="Shape 19">
            <a:extLst>
              <a:ext uri="{FF2B5EF4-FFF2-40B4-BE49-F238E27FC236}">
                <a16:creationId xmlns:a16="http://schemas.microsoft.com/office/drawing/2014/main" id="{D271E110-8A7E-13E1-5288-30D231B4C28B}"/>
              </a:ext>
            </a:extLst>
          </p:cNvPr>
          <p:cNvSpPr/>
          <p:nvPr/>
        </p:nvSpPr>
        <p:spPr>
          <a:xfrm>
            <a:off x="370646" y="3879854"/>
            <a:ext cx="4064211" cy="323907"/>
          </a:xfrm>
          <a:prstGeom prst="roundRect">
            <a:avLst>
              <a:gd name="adj" fmla="val 41332"/>
            </a:avLst>
          </a:prstGeom>
          <a:solidFill>
            <a:srgbClr val="83792E"/>
          </a:solidFill>
          <a:ln w="4763">
            <a:solidFill>
              <a:srgbClr val="9C9247"/>
            </a:solidFill>
            <a:prstDash val="solid"/>
          </a:ln>
        </p:spPr>
        <p:txBody>
          <a:bodyPr/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9.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ea typeface="Brygada 1918 SemiBold" pitchFamily="34" charset="-122"/>
                <a:cs typeface="Times New Roman" panose="02020603050405020304" pitchFamily="18" charset="0"/>
              </a:rPr>
              <a:t> UML Diagrams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D8BDA49D-3F1D-835F-BE2F-FEB336611335}"/>
              </a:ext>
            </a:extLst>
          </p:cNvPr>
          <p:cNvSpPr/>
          <p:nvPr/>
        </p:nvSpPr>
        <p:spPr>
          <a:xfrm>
            <a:off x="371458" y="4303454"/>
            <a:ext cx="4059239" cy="310214"/>
          </a:xfrm>
          <a:prstGeom prst="roundRect">
            <a:avLst>
              <a:gd name="adj" fmla="val 28895"/>
            </a:avLst>
          </a:prstGeom>
          <a:solidFill>
            <a:srgbClr val="CC914D"/>
          </a:solidFill>
          <a:ln w="4763">
            <a:solidFill>
              <a:srgbClr val="B27733"/>
            </a:solidFill>
            <a:prstDash val="solid"/>
          </a:ln>
        </p:spPr>
        <p:txBody>
          <a:bodyPr/>
          <a:lstStyle/>
          <a:p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ea typeface="Brygada 1918 SemiBold" pitchFamily="34" charset="-122"/>
                <a:cs typeface="Times New Roman" panose="02020603050405020304" pitchFamily="18" charset="0"/>
              </a:rPr>
              <a:t>10. 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  <a:endParaRPr sz="1200" dirty="0">
              <a:solidFill>
                <a:schemeClr val="bg1"/>
              </a:solidFill>
            </a:endParaRPr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BA86F49C-747E-8F2F-4D58-A8F8C0E6644D}"/>
              </a:ext>
            </a:extLst>
          </p:cNvPr>
          <p:cNvSpPr/>
          <p:nvPr/>
        </p:nvSpPr>
        <p:spPr>
          <a:xfrm>
            <a:off x="371459" y="4710481"/>
            <a:ext cx="4069255" cy="310214"/>
          </a:xfrm>
          <a:prstGeom prst="roundRect">
            <a:avLst>
              <a:gd name="adj" fmla="val 28895"/>
            </a:avLst>
          </a:prstGeom>
          <a:solidFill>
            <a:srgbClr val="E8AF3B"/>
          </a:solidFill>
          <a:ln w="4763">
            <a:solidFill>
              <a:srgbClr val="CE9521"/>
            </a:solidFill>
            <a:prstDash val="solid"/>
          </a:ln>
        </p:spPr>
        <p:txBody>
          <a:bodyPr/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11.</a:t>
            </a:r>
            <a:r>
              <a:rPr lang="en-IN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Conclusion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6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65E5EF1-8126-ED7E-1316-93F80E6F15FE}"/>
              </a:ext>
            </a:extLst>
          </p:cNvPr>
          <p:cNvSpPr txBox="1"/>
          <p:nvPr/>
        </p:nvSpPr>
        <p:spPr>
          <a:xfrm>
            <a:off x="597877" y="316523"/>
            <a:ext cx="31421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8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3AF5440-62B5-E76F-97C2-6CCCAC272E70}"/>
              </a:ext>
            </a:extLst>
          </p:cNvPr>
          <p:cNvSpPr txBox="1"/>
          <p:nvPr/>
        </p:nvSpPr>
        <p:spPr>
          <a:xfrm>
            <a:off x="597877" y="1094067"/>
            <a:ext cx="7962314" cy="2552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code review is time-consuming and inconsistent, depending heavily on the reviewer’s experience.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static analysis tools like SonarQube, PMD, and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Checkstyle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 issues but provide limited contextual explanations and fix recommendations.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AI/LLM-based code review systems can generate inaccurate or inconsistent suggestions and may lack reliable issue detection.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often need to manually interpret detected issues, identify root causes, and determine appropriate fixes, increasing review effort and time. </a:t>
            </a:r>
          </a:p>
          <a:p>
            <a:pPr marL="171450" lvl="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an automated, context-aware code review system that combines static analysis, AI reasoning, severity prioritization, intelligent fix suggestions, and comprehensive reports.</a:t>
            </a:r>
          </a:p>
        </p:txBody>
      </p:sp>
    </p:spTree>
    <p:extLst>
      <p:ext uri="{BB962C8B-B14F-4D97-AF65-F5344CB8AC3E}">
        <p14:creationId xmlns:p14="http://schemas.microsoft.com/office/powerpoint/2010/main" val="205521999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81818" y="217678"/>
            <a:ext cx="220839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403011"/>
                </a:solidFill>
                <a:latin typeface="Times New Roman" panose="02020603050405020304" pitchFamily="18" charset="0"/>
                <a:ea typeface="Brygada 1918 SemiBold" pitchFamily="34" charset="-122"/>
                <a:cs typeface="Times New Roman" panose="02020603050405020304" pitchFamily="18" charset="0"/>
              </a:rPr>
              <a:t>Abstract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81818" y="822960"/>
            <a:ext cx="8261253" cy="3601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Software development requires regular code reviews to identify bugs, security vulnerabilities, and code-quality issues. However, manual code review is time-consuming, error-prone, and highly dependent on developer expertise. Existing tools such as SonarQube, PMD, and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Checkstyle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detect coding issues but provide limited contextual explanations and fix recommendations, while AI/LLM-based approaches may generate inconsistent suggestions. Existing studies and tools commonly report detection performance in the 80–95% range, depending on the dataset and type of issue. These limitations create a need for an automated and intelligent code-review solution.</a:t>
            </a:r>
          </a:p>
          <a:p>
            <a:pPr>
              <a:lnSpc>
                <a:spcPct val="150000"/>
              </a:lnSpc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The proposed Autonomous Code Review Agent combines SonarQube, GitHub API,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an LLM to automatically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source code, detect bugs, security vulnerabilities, and code-quality issues, and provide human-readable explanations and context-aware fix suggestions. The system targets approximately 90–95% issue-detection accuracy, 85–90% accuracy for fix suggestions, and aims to reduce manual review effort by 50–70% and review time by 40–60%. By prioritizing issues based on severity and generating comprehensive review reports, the proposed system aims to improve software quality, security, reliability, and maintainability while reducing developer effort.</a:t>
            </a:r>
          </a:p>
          <a:p>
            <a:pPr lvl="0">
              <a:lnSpc>
                <a:spcPct val="150000"/>
              </a:lnSpc>
            </a:pP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76545" y="311423"/>
            <a:ext cx="265504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Brygada 1918 SemiBold" pitchFamily="34" charset="-122"/>
                <a:cs typeface="Times New Roman" panose="02020603050405020304" pitchFamily="18" charset="0"/>
              </a:rPr>
              <a:t>Objectives</a:t>
            </a:r>
            <a:endParaRPr lang="en-US" sz="28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6013" y="1033976"/>
            <a:ext cx="8153166" cy="2940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AI-powered Autonomous Code Review Agent that automates the code review process and detects bugs, code smells, security vulnerabilities, and coding violations.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use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an LLM to understand code context and provide human-readable explanations and intelligent fix suggestions.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GitHub API and SonarQube for automated source-code analysis and review of code changes.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prioritize issues based on severity and security impact and generate comprehensive code review reports.</a:t>
            </a:r>
          </a:p>
          <a:p>
            <a:pPr marL="285750" indent="-285750" algn="l">
              <a:lnSpc>
                <a:spcPct val="150000"/>
              </a:lnSpc>
              <a:buSzPct val="100000"/>
              <a:buFont typeface="Arial" panose="020B0604020202020204" pitchFamily="34" charset="0"/>
              <a:buChar char="•"/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9741" y="56351"/>
            <a:ext cx="277631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rgbClr val="403011"/>
                </a:solidFill>
                <a:latin typeface="Times New Roman" panose="02020603050405020304" pitchFamily="18" charset="0"/>
                <a:ea typeface="Brygada 1918 SemiBold" pitchFamily="34" charset="-122"/>
                <a:cs typeface="Times New Roman" panose="02020603050405020304" pitchFamily="18" charset="0"/>
              </a:rPr>
              <a:t>Literature Survey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9B22428-D507-79B9-115D-A257F783A2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2358737"/>
              </p:ext>
            </p:extLst>
          </p:nvPr>
        </p:nvGraphicFramePr>
        <p:xfrm>
          <a:off x="569741" y="710419"/>
          <a:ext cx="8145195" cy="4236901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624819">
                  <a:extLst>
                    <a:ext uri="{9D8B030D-6E8A-4147-A177-3AD203B41FA5}">
                      <a16:colId xmlns:a16="http://schemas.microsoft.com/office/drawing/2014/main" val="3981484481"/>
                    </a:ext>
                  </a:extLst>
                </a:gridCol>
                <a:gridCol w="1633259">
                  <a:extLst>
                    <a:ext uri="{9D8B030D-6E8A-4147-A177-3AD203B41FA5}">
                      <a16:colId xmlns:a16="http://schemas.microsoft.com/office/drawing/2014/main" val="106396161"/>
                    </a:ext>
                  </a:extLst>
                </a:gridCol>
                <a:gridCol w="1629039">
                  <a:extLst>
                    <a:ext uri="{9D8B030D-6E8A-4147-A177-3AD203B41FA5}">
                      <a16:colId xmlns:a16="http://schemas.microsoft.com/office/drawing/2014/main" val="852162948"/>
                    </a:ext>
                  </a:extLst>
                </a:gridCol>
                <a:gridCol w="1629039">
                  <a:extLst>
                    <a:ext uri="{9D8B030D-6E8A-4147-A177-3AD203B41FA5}">
                      <a16:colId xmlns:a16="http://schemas.microsoft.com/office/drawing/2014/main" val="3325291320"/>
                    </a:ext>
                  </a:extLst>
                </a:gridCol>
                <a:gridCol w="1629039">
                  <a:extLst>
                    <a:ext uri="{9D8B030D-6E8A-4147-A177-3AD203B41FA5}">
                      <a16:colId xmlns:a16="http://schemas.microsoft.com/office/drawing/2014/main" val="1722350351"/>
                    </a:ext>
                  </a:extLst>
                </a:gridCol>
              </a:tblGrid>
              <a:tr h="2973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Name</a:t>
                      </a:r>
                    </a:p>
                  </a:txBody>
                  <a:tcPr marL="35460" marR="35460" marT="17730" marB="17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marL="35460" marR="35460" marT="17730" marB="17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 Used</a:t>
                      </a:r>
                    </a:p>
                  </a:txBody>
                  <a:tcPr marL="35460" marR="35460" marT="17730" marB="17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35460" marR="35460" marT="17730" marB="177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35460" marR="35460" marT="17730" marB="17730" anchor="ctr"/>
                </a:tc>
                <a:extLst>
                  <a:ext uri="{0D108BD9-81ED-4DB2-BD59-A6C34878D82A}">
                    <a16:rowId xmlns:a16="http://schemas.microsoft.com/office/drawing/2014/main" val="739893289"/>
                  </a:ext>
                </a:extLst>
              </a:tr>
              <a:tr h="934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Code Review Using Large Language Models</a:t>
                      </a:r>
                    </a:p>
                  </a:txBody>
                  <a:tcPr marL="35460" marR="35460" marT="17730" marB="17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J. Smith, A. Johnson</a:t>
                      </a:r>
                    </a:p>
                    <a:p>
                      <a:pPr>
                        <a:buNone/>
                      </a:pPr>
                      <a:r>
                        <a:rPr lang="en-IN" sz="11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DOI:</a:t>
                      </a:r>
                      <a:r>
                        <a:rPr lang="en-IN" sz="1100" b="0" u="sng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https</a:t>
                      </a:r>
                      <a:r>
                        <a:rPr lang="en-IN" sz="1100" b="0" u="sng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://arxiv.org/abs/2507.18476?utm</a:t>
                      </a:r>
                      <a:endParaRPr lang="en-IN" sz="1100" b="0" u="sng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17730" marB="17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GPT-4, Python, Static Analysis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17730" marB="17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support for large repositories and high computational cost</a:t>
                      </a:r>
                    </a:p>
                  </a:txBody>
                  <a:tcPr marL="35460" marR="35460" marT="17730" marB="177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17730" marB="17730" anchor="ctr"/>
                </a:tc>
                <a:extLst>
                  <a:ext uri="{0D108BD9-81ED-4DB2-BD59-A6C34878D82A}">
                    <a16:rowId xmlns:a16="http://schemas.microsoft.com/office/drawing/2014/main" val="2003486428"/>
                  </a:ext>
                </a:extLst>
              </a:tr>
              <a:tr h="934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AI-Assisted Code Review for Software Quality Improvement</a:t>
                      </a:r>
                    </a:p>
                  </a:txBody>
                  <a:tcPr marL="35460" marR="35460" marT="17730" marB="17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Brown, R. Davis</a:t>
                      </a:r>
                    </a:p>
                    <a:p>
                      <a:pPr>
                        <a:buNone/>
                      </a:pPr>
                      <a:r>
                        <a:rPr lang="en-IN" sz="11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DOI:</a:t>
                      </a:r>
                      <a:r>
                        <a:rPr lang="en-IN" sz="1100" b="0" u="sng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https</a:t>
                      </a:r>
                      <a:r>
                        <a:rPr lang="en-IN" sz="1100" b="0" u="sng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://arxiv.org/abs/2507.19115?utm</a:t>
                      </a:r>
                      <a:endParaRPr lang="en-IN" sz="1100" b="0" u="sng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>
                        <a:buNone/>
                      </a:pP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17730" marB="17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Learning, NLP, SonarQube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17730" marB="17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Focuses mainly on bug detection with limited code fix recommendations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17730" marB="177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17730" marB="17730" anchor="ctr"/>
                </a:tc>
                <a:extLst>
                  <a:ext uri="{0D108BD9-81ED-4DB2-BD59-A6C34878D82A}">
                    <a16:rowId xmlns:a16="http://schemas.microsoft.com/office/drawing/2014/main" val="3336643772"/>
                  </a:ext>
                </a:extLst>
              </a:tr>
              <a:tr h="11362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 Code Analysis with SonarQube for Secure Software Development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17730" marB="17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Kumar, P. Sharma</a:t>
                      </a:r>
                    </a:p>
                    <a:p>
                      <a:pPr>
                        <a:buNone/>
                      </a:pPr>
                      <a:r>
                        <a:rPr lang="en-IN" sz="1100" b="1" u="none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DOI:</a:t>
                      </a:r>
                      <a:r>
                        <a:rPr lang="en-IN" sz="1100" b="0" u="sng" dirty="0" err="1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https</a:t>
                      </a:r>
                      <a:r>
                        <a:rPr lang="en-IN" sz="1100" b="0" u="sng" dirty="0">
                          <a:solidFill>
                            <a:schemeClr val="accent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://doi.org/10.1007/s10664-026-10858-8?utm</a:t>
                      </a:r>
                      <a:endParaRPr lang="en-IN" sz="1100" b="0" u="sng" dirty="0">
                        <a:solidFill>
                          <a:schemeClr val="accent1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17730" marB="17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SonarQube, Java, Static Analysis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17730" marB="17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Unable to provide contextual explanations or intelligent remediation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17730" marB="177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17730" marB="17730" anchor="ctr"/>
                </a:tc>
                <a:extLst>
                  <a:ext uri="{0D108BD9-81ED-4DB2-BD59-A6C34878D82A}">
                    <a16:rowId xmlns:a16="http://schemas.microsoft.com/office/drawing/2014/main" val="3495013749"/>
                  </a:ext>
                </a:extLst>
              </a:tr>
              <a:tr h="9344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Code Review Using Large Language Models</a:t>
                      </a:r>
                    </a:p>
                  </a:txBody>
                  <a:tcPr marL="35460" marR="35460" marT="17730" marB="17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L. Chen, H. Wang</a:t>
                      </a:r>
                    </a:p>
                    <a:p>
                      <a:pPr>
                        <a:buNone/>
                      </a:pPr>
                      <a:r>
                        <a:rPr lang="en-IN" sz="1100" b="1" u="sng" dirty="0" err="1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DOI:</a:t>
                      </a:r>
                      <a:r>
                        <a:rPr lang="en-IN" sz="1100" b="0" u="sng" dirty="0" err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https</a:t>
                      </a:r>
                      <a:r>
                        <a:rPr lang="en-IN" sz="1100" b="0" u="sng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6"/>
                        </a:rPr>
                        <a:t>://arxiv.org/abs/2501.15134?</a:t>
                      </a:r>
                      <a:endParaRPr lang="en-IN" sz="1100" b="0" u="sng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17730" marB="17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LangChain, LLM, Python</a:t>
                      </a:r>
                    </a:p>
                  </a:txBody>
                  <a:tcPr marL="35460" marR="35460" marT="17730" marB="177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integration with version control systems</a:t>
                      </a:r>
                      <a:endParaRPr lang="en-IN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35460" marR="35460" marT="17730" marB="1773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</a:p>
                  </a:txBody>
                  <a:tcPr marL="35460" marR="35460" marT="17730" marB="17730" anchor="ctr"/>
                </a:tc>
                <a:extLst>
                  <a:ext uri="{0D108BD9-81ED-4DB2-BD59-A6C34878D82A}">
                    <a16:rowId xmlns:a16="http://schemas.microsoft.com/office/drawing/2014/main" val="92693157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E0193C6-69BA-0076-EF8F-FC7518871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2829987"/>
              </p:ext>
            </p:extLst>
          </p:nvPr>
        </p:nvGraphicFramePr>
        <p:xfrm>
          <a:off x="471267" y="351692"/>
          <a:ext cx="8067820" cy="4410223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1613564">
                  <a:extLst>
                    <a:ext uri="{9D8B030D-6E8A-4147-A177-3AD203B41FA5}">
                      <a16:colId xmlns:a16="http://schemas.microsoft.com/office/drawing/2014/main" val="685569088"/>
                    </a:ext>
                  </a:extLst>
                </a:gridCol>
                <a:gridCol w="1613564">
                  <a:extLst>
                    <a:ext uri="{9D8B030D-6E8A-4147-A177-3AD203B41FA5}">
                      <a16:colId xmlns:a16="http://schemas.microsoft.com/office/drawing/2014/main" val="2337882660"/>
                    </a:ext>
                  </a:extLst>
                </a:gridCol>
                <a:gridCol w="1613564">
                  <a:extLst>
                    <a:ext uri="{9D8B030D-6E8A-4147-A177-3AD203B41FA5}">
                      <a16:colId xmlns:a16="http://schemas.microsoft.com/office/drawing/2014/main" val="3323614093"/>
                    </a:ext>
                  </a:extLst>
                </a:gridCol>
                <a:gridCol w="1613564">
                  <a:extLst>
                    <a:ext uri="{9D8B030D-6E8A-4147-A177-3AD203B41FA5}">
                      <a16:colId xmlns:a16="http://schemas.microsoft.com/office/drawing/2014/main" val="1165485933"/>
                    </a:ext>
                  </a:extLst>
                </a:gridCol>
                <a:gridCol w="1613564">
                  <a:extLst>
                    <a:ext uri="{9D8B030D-6E8A-4147-A177-3AD203B41FA5}">
                      <a16:colId xmlns:a16="http://schemas.microsoft.com/office/drawing/2014/main" val="367624211"/>
                    </a:ext>
                  </a:extLst>
                </a:gridCol>
              </a:tblGrid>
              <a:tr h="4009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 Name</a:t>
                      </a:r>
                    </a:p>
                  </a:txBody>
                  <a:tcPr marL="42368" marR="42368" marT="21184" marB="211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Author(s)</a:t>
                      </a:r>
                    </a:p>
                  </a:txBody>
                  <a:tcPr marL="42368" marR="42368" marT="21184" marB="211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Technologies Used</a:t>
                      </a:r>
                    </a:p>
                  </a:txBody>
                  <a:tcPr marL="42368" marR="42368" marT="21184" marB="211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Limitations</a:t>
                      </a:r>
                    </a:p>
                  </a:txBody>
                  <a:tcPr marL="42368" marR="42368" marT="21184" marB="2118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solidFill>
                            <a:schemeClr val="accent4">
                              <a:lumMod val="75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42368" marR="42368" marT="21184" marB="21184" anchor="ctr"/>
                </a:tc>
                <a:extLst>
                  <a:ext uri="{0D108BD9-81ED-4DB2-BD59-A6C34878D82A}">
                    <a16:rowId xmlns:a16="http://schemas.microsoft.com/office/drawing/2014/main" val="3308266047"/>
                  </a:ext>
                </a:extLst>
              </a:tr>
              <a:tr h="916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GitHub-Based Automated Code Review Framework</a:t>
                      </a:r>
                    </a:p>
                  </a:txBody>
                  <a:tcPr marL="42368" marR="42368" marT="21184" marB="211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Wilson, K. Patel</a:t>
                      </a:r>
                    </a:p>
                    <a:p>
                      <a:pPr>
                        <a:buNone/>
                      </a:pPr>
                      <a:r>
                        <a:rPr lang="en-IN" sz="11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DOI:</a:t>
                      </a:r>
                      <a:r>
                        <a:rPr lang="en-IN" sz="1100" b="0" u="sng" dirty="0" err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https</a:t>
                      </a:r>
                      <a:r>
                        <a:rPr lang="en-IN" sz="1100" b="0" u="sng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2"/>
                        </a:rPr>
                        <a:t>://doi.org/10.1007/s10664-022-10164-z?utm</a:t>
                      </a:r>
                      <a:endParaRPr lang="en-IN" sz="1100" b="0" u="sng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68" marR="42368" marT="21184" marB="211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GitHub API, Docker, Python</a:t>
                      </a:r>
                    </a:p>
                  </a:txBody>
                  <a:tcPr marL="42368" marR="42368" marT="21184" marB="211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Reviews pull requests only and lacks AI-powered reasoning</a:t>
                      </a:r>
                    </a:p>
                  </a:txBody>
                  <a:tcPr marL="42368" marR="42368" marT="21184" marB="2118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42368" marR="42368" marT="21184" marB="21184" anchor="ctr"/>
                </a:tc>
                <a:extLst>
                  <a:ext uri="{0D108BD9-81ED-4DB2-BD59-A6C34878D82A}">
                    <a16:rowId xmlns:a16="http://schemas.microsoft.com/office/drawing/2014/main" val="1266190649"/>
                  </a:ext>
                </a:extLst>
              </a:tr>
              <a:tr h="916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 Approaches for Software Defect Detection</a:t>
                      </a:r>
                    </a:p>
                  </a:txBody>
                  <a:tcPr marL="42368" marR="42368" marT="21184" marB="211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Y. Zhang, X. Liu</a:t>
                      </a:r>
                    </a:p>
                    <a:p>
                      <a:pPr>
                        <a:buNone/>
                      </a:pPr>
                      <a:r>
                        <a:rPr lang="en-IN" sz="11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DOI:</a:t>
                      </a:r>
                      <a:r>
                        <a:rPr lang="en-IN" sz="1100" b="0" u="sng" dirty="0" err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https</a:t>
                      </a:r>
                      <a:r>
                        <a:rPr lang="en-IN" sz="1100" b="0" u="sng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3"/>
                        </a:rPr>
                        <a:t>://doi.org/10.1007/s10664-023-10301-2?utm</a:t>
                      </a:r>
                      <a:endParaRPr lang="en-IN" sz="1100" b="0" u="sng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68" marR="42368" marT="21184" marB="211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Learning, Neural Networks</a:t>
                      </a:r>
                    </a:p>
                  </a:txBody>
                  <a:tcPr marL="42368" marR="42368" marT="21184" marB="211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Requires large </a:t>
                      </a:r>
                      <a:r>
                        <a:rPr lang="en-IN" sz="1400" b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labeled</a:t>
                      </a: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datasets and significant training time</a:t>
                      </a:r>
                    </a:p>
                  </a:txBody>
                  <a:tcPr marL="42368" marR="42368" marT="21184" marB="2118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marL="42368" marR="42368" marT="21184" marB="21184" anchor="ctr"/>
                </a:tc>
                <a:extLst>
                  <a:ext uri="{0D108BD9-81ED-4DB2-BD59-A6C34878D82A}">
                    <a16:rowId xmlns:a16="http://schemas.microsoft.com/office/drawing/2014/main" val="2670676936"/>
                  </a:ext>
                </a:extLst>
              </a:tr>
              <a:tr h="916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Code Quality Assessment Using Static Analysis Tools</a:t>
                      </a:r>
                    </a:p>
                  </a:txBody>
                  <a:tcPr marL="42368" marR="42368" marT="21184" marB="21184" anchor="ctr"/>
                </a:tc>
                <a:tc>
                  <a:txBody>
                    <a:bodyPr/>
                    <a:lstStyle/>
                    <a:p>
                      <a:pPr marL="342900" indent="-342900">
                        <a:buAutoNum type="alphaUcPeriod"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Verma, R. Singh</a:t>
                      </a:r>
                    </a:p>
                    <a:p>
                      <a:pPr marL="0" indent="0">
                        <a:buNone/>
                      </a:pPr>
                      <a:r>
                        <a:rPr lang="en-IN" sz="11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DOI</a:t>
                      </a:r>
                      <a:r>
                        <a:rPr lang="en-IN" sz="14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  <a:r>
                        <a:rPr lang="en-IN" sz="1100" b="0" u="sng" dirty="0" err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https</a:t>
                      </a:r>
                      <a:r>
                        <a:rPr lang="en-IN" sz="1100" b="0" u="sng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4"/>
                        </a:rPr>
                        <a:t>://link.springer.com/article/10.1007/s11219-023-09655-z</a:t>
                      </a:r>
                      <a:endParaRPr lang="en-IN" sz="1400" b="0" u="sng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68" marR="42368" marT="21184" marB="211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PMD, Checkstyle, SonarQube</a:t>
                      </a:r>
                    </a:p>
                  </a:txBody>
                  <a:tcPr marL="42368" marR="42368" marT="21184" marB="211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Detects coding issues but cannot explain root causes or suggest fixes</a:t>
                      </a:r>
                    </a:p>
                  </a:txBody>
                  <a:tcPr marL="42368" marR="42368" marT="21184" marB="2118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42368" marR="42368" marT="21184" marB="21184" anchor="ctr"/>
                </a:tc>
                <a:extLst>
                  <a:ext uri="{0D108BD9-81ED-4DB2-BD59-A6C34878D82A}">
                    <a16:rowId xmlns:a16="http://schemas.microsoft.com/office/drawing/2014/main" val="1140942551"/>
                  </a:ext>
                </a:extLst>
              </a:tr>
              <a:tr h="12600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for Software Engineering: Intelligent Code Understanding</a:t>
                      </a:r>
                    </a:p>
                  </a:txBody>
                  <a:tcPr marL="42368" marR="42368" marT="21184" marB="211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T. Anderson, M. Roberts</a:t>
                      </a:r>
                    </a:p>
                    <a:p>
                      <a:pPr>
                        <a:buNone/>
                      </a:pPr>
                      <a:r>
                        <a:rPr lang="en-IN" sz="11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DOI:</a:t>
                      </a:r>
                      <a:r>
                        <a:rPr lang="en-IN" sz="1100" b="0" dirty="0" err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https</a:t>
                      </a:r>
                      <a:r>
                        <a:rPr lang="en-IN" sz="1100" b="0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  <a:hlinkClick r:id="rId5"/>
                        </a:rPr>
                        <a:t>://doi.org/10.1007/s11219-026-09740-z?utm</a:t>
                      </a:r>
                      <a:endParaRPr lang="en-IN" sz="1100" b="0" dirty="0">
                        <a:solidFill>
                          <a:schemeClr val="accent5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368" marR="42368" marT="21184" marB="211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 Models, NLP</a:t>
                      </a:r>
                    </a:p>
                  </a:txBody>
                  <a:tcPr marL="42368" marR="42368" marT="21184" marB="2118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practical implementation for enterprise-scale codebases</a:t>
                      </a:r>
                    </a:p>
                  </a:txBody>
                  <a:tcPr marL="42368" marR="42368" marT="21184" marB="21184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marL="42368" marR="42368" marT="21184" marB="21184" anchor="ctr"/>
                </a:tc>
                <a:extLst>
                  <a:ext uri="{0D108BD9-81ED-4DB2-BD59-A6C34878D82A}">
                    <a16:rowId xmlns:a16="http://schemas.microsoft.com/office/drawing/2014/main" val="38709003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70764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64468" y="101975"/>
            <a:ext cx="2876610" cy="38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Brygada 1918 SemiBold" pitchFamily="34" charset="-122"/>
                <a:cs typeface="Times New Roman" panose="02020603050405020304" pitchFamily="18" charset="0"/>
              </a:rPr>
              <a:t>Methodology</a:t>
            </a:r>
            <a:endParaRPr lang="en-US" sz="28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464468" y="975238"/>
            <a:ext cx="8194197" cy="368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50000"/>
              </a:lnSpc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0452FA-6E22-540B-84CA-BB9CF014EE8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88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57534" y="519189"/>
            <a:ext cx="5556738" cy="45223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0E879A-1AD1-B489-FA84-3560497CCCAE}"/>
              </a:ext>
            </a:extLst>
          </p:cNvPr>
          <p:cNvSpPr txBox="1"/>
          <p:nvPr/>
        </p:nvSpPr>
        <p:spPr>
          <a:xfrm>
            <a:off x="372793" y="159028"/>
            <a:ext cx="7997483" cy="522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Brygada 1918 SemiBold" pitchFamily="34" charset="-122"/>
                <a:cs typeface="Times New Roman" panose="02020603050405020304" pitchFamily="18" charset="0"/>
              </a:rPr>
              <a:t>Hardware &amp; Software Requirements</a:t>
            </a:r>
            <a:endParaRPr lang="en-US" sz="2800" b="1" dirty="0">
              <a:solidFill>
                <a:schemeClr val="accent6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D603AF-3E4E-13A4-FEE7-59959F00DD9C}"/>
              </a:ext>
            </a:extLst>
          </p:cNvPr>
          <p:cNvSpPr txBox="1"/>
          <p:nvPr/>
        </p:nvSpPr>
        <p:spPr>
          <a:xfrm>
            <a:off x="548640" y="1067722"/>
            <a:ext cx="4572000" cy="332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03011"/>
                </a:solidFill>
                <a:latin typeface="Times New Roman" panose="02020603050405020304" pitchFamily="18" charset="0"/>
                <a:ea typeface="Brygada 1918 SemiBold" pitchFamily="34" charset="-122"/>
                <a:cs typeface="Times New Roman" panose="02020603050405020304" pitchFamily="18" charset="0"/>
              </a:rPr>
              <a:t>Hardware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B1ABBF-E18E-1A45-B715-27FE3C5BC791}"/>
              </a:ext>
            </a:extLst>
          </p:cNvPr>
          <p:cNvSpPr txBox="1"/>
          <p:nvPr/>
        </p:nvSpPr>
        <p:spPr>
          <a:xfrm>
            <a:off x="4779498" y="1021587"/>
            <a:ext cx="4572000" cy="332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403011"/>
                </a:solidFill>
                <a:latin typeface="Times New Roman" panose="02020603050405020304" pitchFamily="18" charset="0"/>
                <a:ea typeface="Brygada 1918 SemiBold" pitchFamily="34" charset="-122"/>
                <a:cs typeface="Times New Roman" panose="02020603050405020304" pitchFamily="18" charset="0"/>
              </a:rPr>
              <a:t>Software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F63A55-CC4B-F403-7919-EB6C8E79B9F8}"/>
              </a:ext>
            </a:extLst>
          </p:cNvPr>
          <p:cNvSpPr txBox="1"/>
          <p:nvPr/>
        </p:nvSpPr>
        <p:spPr>
          <a:xfrm>
            <a:off x="548640" y="1508309"/>
            <a:ext cx="3580228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 Intel Core i5 / AMD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Ryzen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5 or higher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 Minimum 8 GB; 16 GB recommended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 Minimum 20 GB free space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System: 64-bit computer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Internet: Required for GitHub API and LLM services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D5A597-6A9C-2C72-B2CE-24098A146EC2}"/>
              </a:ext>
            </a:extLst>
          </p:cNvPr>
          <p:cNvSpPr txBox="1"/>
          <p:nvPr/>
        </p:nvSpPr>
        <p:spPr>
          <a:xfrm>
            <a:off x="4779498" y="1437928"/>
            <a:ext cx="4230859" cy="2267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Windows / Linux / macOS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Python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Flask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Analysis: SonarQube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Processing: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Large Language Model (LLM)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 Integration: GitHub API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Containerization: Docker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Control: Git / GitHub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Browser: Chrome / Edge / Firefox</a:t>
            </a:r>
          </a:p>
        </p:txBody>
      </p:sp>
    </p:spTree>
    <p:extLst>
      <p:ext uri="{BB962C8B-B14F-4D97-AF65-F5344CB8AC3E}">
        <p14:creationId xmlns:p14="http://schemas.microsoft.com/office/powerpoint/2010/main" val="2215021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6D0E4B5-2996-AD07-3D0B-2980F971B447}"/>
              </a:ext>
            </a:extLst>
          </p:cNvPr>
          <p:cNvSpPr txBox="1"/>
          <p:nvPr/>
        </p:nvSpPr>
        <p:spPr>
          <a:xfrm>
            <a:off x="436099" y="25028"/>
            <a:ext cx="24022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99EFD53-B7EA-6185-63B6-DB4CBD7973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171"/>
          <a:stretch>
            <a:fillRect/>
          </a:stretch>
        </p:blipFill>
        <p:spPr>
          <a:xfrm>
            <a:off x="1637229" y="597877"/>
            <a:ext cx="5741275" cy="4112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15265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A15D918-9113-9B7E-B727-B0F5BF467858}"/>
              </a:ext>
            </a:extLst>
          </p:cNvPr>
          <p:cNvSpPr txBox="1"/>
          <p:nvPr/>
        </p:nvSpPr>
        <p:spPr>
          <a:xfrm>
            <a:off x="281940" y="260838"/>
            <a:ext cx="43789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392207-948C-8662-C3B2-C714183A7B9D}"/>
              </a:ext>
            </a:extLst>
          </p:cNvPr>
          <p:cNvSpPr txBox="1"/>
          <p:nvPr/>
        </p:nvSpPr>
        <p:spPr>
          <a:xfrm>
            <a:off x="617020" y="883925"/>
            <a:ext cx="8214360" cy="300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Automates code review, reducing manual effort and review time.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SonarQube with AI/LLM for deeper code understanding.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Explains detected issues in simple, human-readable language.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Prioritizes bugs and vulnerabilities based on severity and security impact.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intelligent fix recommendations, not just error detection.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with GitHub for practical repository-based analysis. 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comprehensive review report for easy developer reference. </a:t>
            </a:r>
          </a:p>
          <a:p>
            <a:pPr>
              <a:lnSpc>
                <a:spcPct val="15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2832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1A5AD1A-D3E9-CEA7-A404-4E72E5F62D16}"/>
              </a:ext>
            </a:extLst>
          </p:cNvPr>
          <p:cNvSpPr txBox="1"/>
          <p:nvPr/>
        </p:nvSpPr>
        <p:spPr>
          <a:xfrm>
            <a:off x="534572" y="330591"/>
            <a:ext cx="25869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36D423-3ECD-BE31-F6AB-D35F32FBF978}"/>
              </a:ext>
            </a:extLst>
          </p:cNvPr>
          <p:cNvSpPr txBox="1"/>
          <p:nvPr/>
        </p:nvSpPr>
        <p:spPr>
          <a:xfrm>
            <a:off x="1716258" y="1033976"/>
            <a:ext cx="3172265" cy="23970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UseCase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Diagram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  <a:p>
            <a:pPr marL="28575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Diagram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48425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850EE67-ED49-720B-787F-BB1A150A1DBD}"/>
              </a:ext>
            </a:extLst>
          </p:cNvPr>
          <p:cNvSpPr txBox="1"/>
          <p:nvPr/>
        </p:nvSpPr>
        <p:spPr>
          <a:xfrm>
            <a:off x="232117" y="58840"/>
            <a:ext cx="2536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err="1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UseCase</a:t>
            </a:r>
            <a:r>
              <a:rPr lang="en-IN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Diagram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294FBE-92A6-B4D9-F97E-88216C5E5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254" y="750991"/>
            <a:ext cx="4529797" cy="3810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6653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F65E30-69AF-7D87-B292-E5DA5C80F219}"/>
              </a:ext>
            </a:extLst>
          </p:cNvPr>
          <p:cNvSpPr txBox="1"/>
          <p:nvPr/>
        </p:nvSpPr>
        <p:spPr>
          <a:xfrm>
            <a:off x="239151" y="123037"/>
            <a:ext cx="22429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06C943-F6DD-FF19-F19A-74332A9BEA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134" y="645765"/>
            <a:ext cx="6835732" cy="407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74836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7F24C6E-9FE0-3C81-DAB8-46B5C8491258}"/>
              </a:ext>
            </a:extLst>
          </p:cNvPr>
          <p:cNvSpPr txBox="1"/>
          <p:nvPr/>
        </p:nvSpPr>
        <p:spPr>
          <a:xfrm>
            <a:off x="267286" y="77373"/>
            <a:ext cx="18966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363E6D-BC35-F98C-3FAE-5F29E83A9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034" y="446705"/>
            <a:ext cx="3924886" cy="462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96257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C14FAE-AAD9-78A9-9A4E-5C6673B3A150}"/>
              </a:ext>
            </a:extLst>
          </p:cNvPr>
          <p:cNvSpPr txBox="1"/>
          <p:nvPr/>
        </p:nvSpPr>
        <p:spPr>
          <a:xfrm>
            <a:off x="260252" y="124823"/>
            <a:ext cx="18004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CE67E68-09BB-E2F5-36B3-DA29BB180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542" y="524933"/>
            <a:ext cx="3995224" cy="4569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10374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E70CA5B-12EF-3760-004F-31CF6377CE8C}"/>
              </a:ext>
            </a:extLst>
          </p:cNvPr>
          <p:cNvSpPr txBox="1"/>
          <p:nvPr/>
        </p:nvSpPr>
        <p:spPr>
          <a:xfrm>
            <a:off x="323557" y="14944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Diagram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D17347-2DBB-5AD6-5B07-6E26E32D0F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899" y="590843"/>
            <a:ext cx="6358201" cy="435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7377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22C99AF-1048-D3A9-9827-9A21AB7CF47A}"/>
              </a:ext>
            </a:extLst>
          </p:cNvPr>
          <p:cNvSpPr txBox="1"/>
          <p:nvPr/>
        </p:nvSpPr>
        <p:spPr>
          <a:xfrm>
            <a:off x="422030" y="242612"/>
            <a:ext cx="251811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ACF9FD-DAA1-22F7-D1E8-166F5BDA6C59}"/>
              </a:ext>
            </a:extLst>
          </p:cNvPr>
          <p:cNvSpPr txBox="1"/>
          <p:nvPr/>
        </p:nvSpPr>
        <p:spPr>
          <a:xfrm>
            <a:off x="900332" y="834459"/>
            <a:ext cx="7687994" cy="2264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CI/CD Integration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Automate code reviews during builds and pull requests.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Multi-Language Support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Support Java, C/C++, JavaScript, and other languages.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AI Code Fixing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Generate accurate fixes and improved code suggestions.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Code Monitoring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Monitor repositories and detect new issues automatically.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12511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4FC4D4-94A1-F413-1282-5BB374841C9C}"/>
              </a:ext>
            </a:extLst>
          </p:cNvPr>
          <p:cNvSpPr txBox="1"/>
          <p:nvPr/>
        </p:nvSpPr>
        <p:spPr>
          <a:xfrm>
            <a:off x="344658" y="232117"/>
            <a:ext cx="19014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14A641-F7A0-69A6-EAB6-0D9A1BAE21D0}"/>
              </a:ext>
            </a:extLst>
          </p:cNvPr>
          <p:cNvSpPr txBox="1"/>
          <p:nvPr/>
        </p:nvSpPr>
        <p:spPr>
          <a:xfrm>
            <a:off x="511199" y="884213"/>
            <a:ext cx="8323311" cy="2962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Autonomous Code Review Agent provides an automated approach to software code review by combining SonarQube static analysis with AI-based code understanding. The system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source code, identifies bugs, vulnerabilities, and code smells, and presents the detected issues in a clear and understandable manner.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using GitHub integration, SonarQube,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an LLM, the proposed system reduces manual code-review effort and provides useful explanations and fix suggestions. The project can be further enhanced with CI/CD integration, multi-language support, advanced AI-based fixing, and continuous repository monitoring, making it a useful foundation for automated and intelligent code review.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92519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duotone>
              <a:schemeClr val="accent6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5543550" y="-7034"/>
            <a:ext cx="3600450" cy="51435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668215" y="1934308"/>
            <a:ext cx="4550667" cy="80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00" dirty="0">
                <a:solidFill>
                  <a:srgbClr val="403011"/>
                </a:solidFill>
                <a:latin typeface="Brygada 1918 SemiBold" pitchFamily="34" charset="0"/>
                <a:ea typeface="Brygada 1918 SemiBold" pitchFamily="34" charset="-122"/>
                <a:cs typeface="Brygada 1918 SemiBold" pitchFamily="34" charset="-120"/>
              </a:rPr>
              <a:t>THANK YOU</a:t>
            </a:r>
            <a:endParaRPr lang="en-US" sz="4800" dirty="0"/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spd="slow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</TotalTime>
  <Words>1231</Words>
  <Application>Microsoft Office PowerPoint</Application>
  <PresentationFormat>On-screen Show (16:9)</PresentationFormat>
  <Paragraphs>151</Paragraphs>
  <Slides>20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Brygada 1918 SemiBold</vt:lpstr>
      <vt:lpstr>Bookman Old Style</vt:lpstr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Sai Nithin Pamulaparthi</cp:lastModifiedBy>
  <cp:revision>28</cp:revision>
  <dcterms:created xsi:type="dcterms:W3CDTF">2026-08-04T10:05:41Z</dcterms:created>
  <dcterms:modified xsi:type="dcterms:W3CDTF">2026-10-03T15:04:51Z</dcterms:modified>
</cp:coreProperties>
</file>